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Muli" panose="020B0604020202020204" charset="0"/>
      <p:regular r:id="rId12"/>
    </p:embeddedFont>
    <p:embeddedFont>
      <p:font typeface="Muli Bold Italics" panose="020B0604020202020204" charset="0"/>
      <p:regular r:id="rId13"/>
    </p:embeddedFont>
    <p:embeddedFont>
      <p:font typeface="Shrikhand" panose="020B0604020202020204" charset="0"/>
      <p:regular r:id="rId14"/>
    </p:embeddedFont>
    <p:embeddedFont>
      <p:font typeface="Times New Roman Bold Italics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27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hyperlink" Target="https://www.kaggle.com/code/mohamedredaibrahim/student-performance-dataset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hyperlink" Target="https://github.com/priyanshugupta18-web/student-performance-predictor" TargetMode="External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student-performance-predictor18.streamlit.app" TargetMode="Externa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84325" y="-308312"/>
            <a:ext cx="7903675" cy="11562784"/>
          </a:xfrm>
          <a:custGeom>
            <a:avLst/>
            <a:gdLst/>
            <a:ahLst/>
            <a:cxnLst/>
            <a:rect l="l" t="t" r="r" b="b"/>
            <a:pathLst>
              <a:path w="7903675" h="11562784">
                <a:moveTo>
                  <a:pt x="0" y="0"/>
                </a:moveTo>
                <a:lnTo>
                  <a:pt x="7903675" y="0"/>
                </a:lnTo>
                <a:lnTo>
                  <a:pt x="7903675" y="11562784"/>
                </a:lnTo>
                <a:lnTo>
                  <a:pt x="0" y="115627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85514" y="6611490"/>
            <a:ext cx="9608910" cy="3319442"/>
          </a:xfrm>
          <a:custGeom>
            <a:avLst/>
            <a:gdLst/>
            <a:ahLst/>
            <a:cxnLst/>
            <a:rect l="l" t="t" r="r" b="b"/>
            <a:pathLst>
              <a:path w="9608910" h="3319442">
                <a:moveTo>
                  <a:pt x="0" y="0"/>
                </a:moveTo>
                <a:lnTo>
                  <a:pt x="9608910" y="0"/>
                </a:lnTo>
                <a:lnTo>
                  <a:pt x="9608910" y="3319442"/>
                </a:lnTo>
                <a:lnTo>
                  <a:pt x="0" y="33194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85514" y="1425242"/>
            <a:ext cx="11208305" cy="1560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85"/>
              </a:lnSpc>
            </a:pPr>
            <a:r>
              <a:rPr lang="en-US" sz="9132">
                <a:solidFill>
                  <a:srgbClr val="232B38"/>
                </a:solidFill>
                <a:latin typeface="Shrikhand"/>
                <a:ea typeface="Shrikhand"/>
                <a:cs typeface="Shrikhand"/>
                <a:sym typeface="Shrikhand"/>
              </a:rPr>
              <a:t>Machine Learning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8250" y="3612226"/>
            <a:ext cx="11948042" cy="169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Learning for Predection Model</a:t>
            </a:r>
          </a:p>
          <a:p>
            <a:pPr algn="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~Dr. Palak Mahajan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17173" y="7000772"/>
            <a:ext cx="7674656" cy="2445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8189" lvl="1" indent="-374095" algn="l">
              <a:lnSpc>
                <a:spcPts val="4851"/>
              </a:lnSpc>
              <a:buFont typeface="Arial"/>
              <a:buChar char="•"/>
            </a:pPr>
            <a:r>
              <a:rPr lang="en-US" sz="346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Ankit Kumar Ojha</a:t>
            </a:r>
          </a:p>
          <a:p>
            <a:pPr marL="748189" lvl="1" indent="-374095" algn="l">
              <a:lnSpc>
                <a:spcPts val="4851"/>
              </a:lnSpc>
              <a:buFont typeface="Arial"/>
              <a:buChar char="•"/>
            </a:pPr>
            <a:r>
              <a:rPr lang="en-US" sz="346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Gyan Prakash</a:t>
            </a:r>
          </a:p>
          <a:p>
            <a:pPr marL="748189" lvl="1" indent="-374095" algn="l">
              <a:lnSpc>
                <a:spcPts val="4851"/>
              </a:lnSpc>
              <a:buFont typeface="Arial"/>
              <a:buChar char="•"/>
            </a:pPr>
            <a:r>
              <a:rPr lang="en-US" sz="346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Krishna Kumar</a:t>
            </a:r>
          </a:p>
          <a:p>
            <a:pPr marL="748189" lvl="1" indent="-374095" algn="l">
              <a:lnSpc>
                <a:spcPts val="4851"/>
              </a:lnSpc>
              <a:buFont typeface="Arial"/>
              <a:buChar char="•"/>
            </a:pPr>
            <a:r>
              <a:rPr lang="en-US" sz="346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Priyanshu Gupta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384088" y="9258300"/>
            <a:ext cx="3903912" cy="2129406"/>
          </a:xfrm>
          <a:custGeom>
            <a:avLst/>
            <a:gdLst/>
            <a:ahLst/>
            <a:cxnLst/>
            <a:rect l="l" t="t" r="r" b="b"/>
            <a:pathLst>
              <a:path w="3903912" h="2129406">
                <a:moveTo>
                  <a:pt x="0" y="0"/>
                </a:moveTo>
                <a:lnTo>
                  <a:pt x="3903912" y="0"/>
                </a:lnTo>
                <a:lnTo>
                  <a:pt x="3903912" y="2129406"/>
                </a:lnTo>
                <a:lnTo>
                  <a:pt x="0" y="2129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flipH="1">
            <a:off x="14834753" y="-11110"/>
            <a:ext cx="3453247" cy="2079620"/>
          </a:xfrm>
          <a:custGeom>
            <a:avLst/>
            <a:gdLst/>
            <a:ahLst/>
            <a:cxnLst/>
            <a:rect l="l" t="t" r="r" b="b"/>
            <a:pathLst>
              <a:path w="3453247" h="2079620">
                <a:moveTo>
                  <a:pt x="3453247" y="0"/>
                </a:moveTo>
                <a:lnTo>
                  <a:pt x="0" y="0"/>
                </a:lnTo>
                <a:lnTo>
                  <a:pt x="0" y="2079620"/>
                </a:lnTo>
                <a:lnTo>
                  <a:pt x="3453247" y="2079620"/>
                </a:lnTo>
                <a:lnTo>
                  <a:pt x="345324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54396"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0" y="9280712"/>
            <a:ext cx="4696945" cy="1006288"/>
          </a:xfrm>
          <a:custGeom>
            <a:avLst/>
            <a:gdLst/>
            <a:ahLst/>
            <a:cxnLst/>
            <a:rect l="l" t="t" r="r" b="b"/>
            <a:pathLst>
              <a:path w="4696945" h="1006288">
                <a:moveTo>
                  <a:pt x="0" y="0"/>
                </a:moveTo>
                <a:lnTo>
                  <a:pt x="4696945" y="0"/>
                </a:lnTo>
                <a:lnTo>
                  <a:pt x="4696945" y="1006288"/>
                </a:lnTo>
                <a:lnTo>
                  <a:pt x="0" y="1006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615090"/>
            </a:stretch>
          </a:blipFill>
          <a:ln cap="sq">
            <a:noFill/>
            <a:prstDash val="solid"/>
            <a:miter/>
          </a:ln>
        </p:spPr>
      </p:sp>
      <p:sp>
        <p:nvSpPr>
          <p:cNvPr id="5" name="TextBox 5"/>
          <p:cNvSpPr txBox="1"/>
          <p:nvPr/>
        </p:nvSpPr>
        <p:spPr>
          <a:xfrm>
            <a:off x="1028700" y="5612224"/>
            <a:ext cx="11156715" cy="3376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 machine learning model to predict student perfromance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regression (Random Forest) technique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 how different academic factors affect final results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a user-friendly interface for real-time predictions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decision-making using data-driven insights.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86108" y="4427902"/>
            <a:ext cx="10184798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dirty="0">
                <a:latin typeface="Shrikhand"/>
                <a:ea typeface="Shrikhand"/>
                <a:cs typeface="Shrikhand"/>
                <a:sym typeface="Shrikhand"/>
              </a:rPr>
              <a:t>Solution</a:t>
            </a:r>
          </a:p>
        </p:txBody>
      </p:sp>
      <p:sp>
        <p:nvSpPr>
          <p:cNvPr id="7" name="AutoShape 7"/>
          <p:cNvSpPr/>
          <p:nvPr/>
        </p:nvSpPr>
        <p:spPr>
          <a:xfrm>
            <a:off x="3050830" y="5320031"/>
            <a:ext cx="2846107" cy="19050"/>
          </a:xfrm>
          <a:prstGeom prst="line">
            <a:avLst/>
          </a:prstGeom>
          <a:ln w="38100" cap="flat">
            <a:solidFill>
              <a:srgbClr val="232B3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1028700" y="904875"/>
            <a:ext cx="90297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dirty="0">
                <a:solidFill>
                  <a:srgbClr val="000000"/>
                </a:solidFill>
                <a:latin typeface="Shrikhand"/>
                <a:ea typeface="Shrikhand"/>
                <a:cs typeface="Shrikhand"/>
                <a:sym typeface="Shrikhand"/>
              </a:rPr>
              <a:t>Problem Statement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2282978"/>
            <a:ext cx="11699614" cy="1244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predict student performance (pass/fail and final grade) using machine learning based on academic data</a:t>
            </a:r>
          </a:p>
        </p:txBody>
      </p:sp>
      <p:sp>
        <p:nvSpPr>
          <p:cNvPr id="10" name="AutoShape 10"/>
          <p:cNvSpPr/>
          <p:nvPr/>
        </p:nvSpPr>
        <p:spPr>
          <a:xfrm flipV="1">
            <a:off x="3082785" y="1794716"/>
            <a:ext cx="7845770" cy="38100"/>
          </a:xfrm>
          <a:prstGeom prst="line">
            <a:avLst/>
          </a:prstGeom>
          <a:ln w="38100" cap="flat">
            <a:solidFill>
              <a:srgbClr val="232B38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260758" y="9388426"/>
            <a:ext cx="3903912" cy="2129406"/>
          </a:xfrm>
          <a:custGeom>
            <a:avLst/>
            <a:gdLst/>
            <a:ahLst/>
            <a:cxnLst/>
            <a:rect l="l" t="t" r="r" b="b"/>
            <a:pathLst>
              <a:path w="3903912" h="2129406">
                <a:moveTo>
                  <a:pt x="3903912" y="0"/>
                </a:moveTo>
                <a:lnTo>
                  <a:pt x="0" y="0"/>
                </a:lnTo>
                <a:lnTo>
                  <a:pt x="0" y="2129407"/>
                </a:lnTo>
                <a:lnTo>
                  <a:pt x="3903912" y="2129407"/>
                </a:lnTo>
                <a:lnTo>
                  <a:pt x="390391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35426" y="-248203"/>
            <a:ext cx="3453247" cy="2079620"/>
          </a:xfrm>
          <a:custGeom>
            <a:avLst/>
            <a:gdLst/>
            <a:ahLst/>
            <a:cxnLst/>
            <a:rect l="l" t="t" r="r" b="b"/>
            <a:pathLst>
              <a:path w="3453247" h="2079620">
                <a:moveTo>
                  <a:pt x="0" y="0"/>
                </a:moveTo>
                <a:lnTo>
                  <a:pt x="3453247" y="0"/>
                </a:lnTo>
                <a:lnTo>
                  <a:pt x="3453247" y="2079620"/>
                </a:lnTo>
                <a:lnTo>
                  <a:pt x="0" y="20796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54396"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13842609" y="9316715"/>
            <a:ext cx="4696945" cy="1006288"/>
          </a:xfrm>
          <a:custGeom>
            <a:avLst/>
            <a:gdLst/>
            <a:ahLst/>
            <a:cxnLst/>
            <a:rect l="l" t="t" r="r" b="b"/>
            <a:pathLst>
              <a:path w="4696945" h="1006288">
                <a:moveTo>
                  <a:pt x="0" y="0"/>
                </a:moveTo>
                <a:lnTo>
                  <a:pt x="4696945" y="0"/>
                </a:lnTo>
                <a:lnTo>
                  <a:pt x="4696945" y="1006288"/>
                </a:lnTo>
                <a:lnTo>
                  <a:pt x="0" y="1006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615090"/>
            </a:stretch>
          </a:blipFill>
          <a:ln cap="sq">
            <a:noFill/>
            <a:prstDash val="solid"/>
            <a:miter/>
          </a:ln>
        </p:spPr>
      </p:sp>
      <p:sp>
        <p:nvSpPr>
          <p:cNvPr id="5" name="AutoShape 5"/>
          <p:cNvSpPr/>
          <p:nvPr/>
        </p:nvSpPr>
        <p:spPr>
          <a:xfrm>
            <a:off x="8863398" y="2478499"/>
            <a:ext cx="6492240" cy="0"/>
          </a:xfrm>
          <a:prstGeom prst="line">
            <a:avLst/>
          </a:prstGeom>
          <a:ln w="38100" cap="flat">
            <a:solidFill>
              <a:srgbClr val="232B3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3285041" y="2748915"/>
            <a:ext cx="11156715" cy="663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 i="1" dirty="0">
                <a:solidFill>
                  <a:srgbClr val="000000"/>
                </a:solidFill>
                <a:latin typeface="Muli Bold Italics"/>
                <a:ea typeface="Muli Bold Italics"/>
                <a:cs typeface="Muli Bold Italics"/>
                <a:sym typeface="Muli Bold Italics"/>
              </a:rPr>
              <a:t>Dataset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Muli"/>
                <a:cs typeface="Times New Roman" panose="02020603050405020304" pitchFamily="18" charset="0"/>
                <a:sym typeface="Muli"/>
              </a:rPr>
              <a:t>Source: </a:t>
            </a:r>
            <a:r>
              <a:rPr lang="en-US" sz="3200" u="sng" dirty="0">
                <a:solidFill>
                  <a:srgbClr val="0F27DB"/>
                </a:solidFill>
                <a:latin typeface="Times New Roman" panose="02020603050405020304" pitchFamily="18" charset="0"/>
                <a:ea typeface="Muli"/>
                <a:cs typeface="Times New Roman" panose="02020603050405020304" pitchFamily="18" charset="0"/>
                <a:sym typeface="Muli"/>
                <a:hlinkClick r:id="rId4" tooltip="https://www.kaggle.com/code/mohamedredaibrahim/student-performance-datase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Kaggle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Muli"/>
                <a:cs typeface="Times New Roman" panose="02020603050405020304" pitchFamily="18" charset="0"/>
                <a:sym typeface="Muli"/>
              </a:rPr>
              <a:t>200+records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Muli"/>
                <a:cs typeface="Times New Roman" panose="02020603050405020304" pitchFamily="18" charset="0"/>
                <a:sym typeface="Muli"/>
              </a:rPr>
              <a:t>Labeled dataset </a:t>
            </a:r>
          </a:p>
          <a:p>
            <a:pPr algn="l">
              <a:lnSpc>
                <a:spcPts val="4900"/>
              </a:lnSpc>
            </a:pPr>
            <a:endParaRPr lang="en-US" sz="3200" dirty="0">
              <a:solidFill>
                <a:srgbClr val="000000"/>
              </a:solidFill>
              <a:latin typeface="Muli"/>
              <a:ea typeface="Muli"/>
              <a:cs typeface="Muli"/>
              <a:sym typeface="Muli"/>
            </a:endParaRPr>
          </a:p>
          <a:p>
            <a:pPr algn="l">
              <a:lnSpc>
                <a:spcPts val="5599"/>
              </a:lnSpc>
            </a:pPr>
            <a:r>
              <a:rPr lang="en-US" sz="3999" b="1" i="1" dirty="0">
                <a:solidFill>
                  <a:srgbClr val="000000"/>
                </a:solidFill>
                <a:latin typeface="Muli Bold Italics"/>
                <a:ea typeface="Muli Bold Italics"/>
                <a:cs typeface="Muli Bold Italics"/>
                <a:sym typeface="Muli Bold Italics"/>
              </a:rPr>
              <a:t>Tools &amp; Technologies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Muli"/>
                <a:cs typeface="Times New Roman" panose="02020603050405020304" pitchFamily="18" charset="0"/>
                <a:sym typeface="Muli"/>
              </a:rPr>
              <a:t>Python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Muli"/>
                <a:cs typeface="Times New Roman" panose="02020603050405020304" pitchFamily="18" charset="0"/>
                <a:sym typeface="Muli"/>
              </a:rPr>
              <a:t>Pandas, NumPy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Muli"/>
                <a:cs typeface="Times New Roman" panose="02020603050405020304" pitchFamily="18" charset="0"/>
                <a:sym typeface="Muli"/>
              </a:rPr>
              <a:t>Matplotlib, Seaborn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Muli"/>
                <a:cs typeface="Times New Roman" panose="02020603050405020304" pitchFamily="18" charset="0"/>
                <a:sym typeface="Muli"/>
              </a:rPr>
              <a:t>Scikit-learn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 err="1">
                <a:solidFill>
                  <a:srgbClr val="000000"/>
                </a:solidFill>
                <a:latin typeface="Times New Roman" panose="02020603050405020304" pitchFamily="18" charset="0"/>
                <a:ea typeface="Muli"/>
                <a:cs typeface="Times New Roman" panose="02020603050405020304" pitchFamily="18" charset="0"/>
                <a:sym typeface="Muli"/>
              </a:rPr>
              <a:t>Streamlit</a:t>
            </a: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ea typeface="Muli"/>
              <a:cs typeface="Times New Roman" panose="02020603050405020304" pitchFamily="18" charset="0"/>
              <a:sym typeface="Muli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8863398" y="3007190"/>
            <a:ext cx="8331846" cy="2791168"/>
          </a:xfrm>
          <a:custGeom>
            <a:avLst/>
            <a:gdLst/>
            <a:ahLst/>
            <a:cxnLst/>
            <a:rect l="l" t="t" r="r" b="b"/>
            <a:pathLst>
              <a:path w="8331846" h="2791168">
                <a:moveTo>
                  <a:pt x="0" y="0"/>
                </a:moveTo>
                <a:lnTo>
                  <a:pt x="8331846" y="0"/>
                </a:lnTo>
                <a:lnTo>
                  <a:pt x="8331846" y="2791168"/>
                </a:lnTo>
                <a:lnTo>
                  <a:pt x="0" y="27911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074502" y="1050984"/>
            <a:ext cx="10184798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200"/>
              </a:lnSpc>
            </a:pPr>
            <a:r>
              <a:rPr lang="en-US" sz="8000">
                <a:solidFill>
                  <a:srgbClr val="232B38"/>
                </a:solidFill>
                <a:latin typeface="Shrikhand"/>
                <a:ea typeface="Shrikhand"/>
                <a:cs typeface="Shrikhand"/>
                <a:sym typeface="Shrikhand"/>
              </a:rPr>
              <a:t>Dataset &amp;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384088" y="9258300"/>
            <a:ext cx="3903912" cy="2129406"/>
          </a:xfrm>
          <a:custGeom>
            <a:avLst/>
            <a:gdLst/>
            <a:ahLst/>
            <a:cxnLst/>
            <a:rect l="l" t="t" r="r" b="b"/>
            <a:pathLst>
              <a:path w="3903912" h="2129406">
                <a:moveTo>
                  <a:pt x="0" y="0"/>
                </a:moveTo>
                <a:lnTo>
                  <a:pt x="3903912" y="0"/>
                </a:lnTo>
                <a:lnTo>
                  <a:pt x="3903912" y="2129406"/>
                </a:lnTo>
                <a:lnTo>
                  <a:pt x="0" y="2129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flipH="1">
            <a:off x="14834753" y="-11110"/>
            <a:ext cx="3453247" cy="2079620"/>
          </a:xfrm>
          <a:custGeom>
            <a:avLst/>
            <a:gdLst/>
            <a:ahLst/>
            <a:cxnLst/>
            <a:rect l="l" t="t" r="r" b="b"/>
            <a:pathLst>
              <a:path w="3453247" h="2079620">
                <a:moveTo>
                  <a:pt x="3453247" y="0"/>
                </a:moveTo>
                <a:lnTo>
                  <a:pt x="0" y="0"/>
                </a:lnTo>
                <a:lnTo>
                  <a:pt x="0" y="2079620"/>
                </a:lnTo>
                <a:lnTo>
                  <a:pt x="3453247" y="2079620"/>
                </a:lnTo>
                <a:lnTo>
                  <a:pt x="345324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54396"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0" y="9280712"/>
            <a:ext cx="4696945" cy="1006288"/>
          </a:xfrm>
          <a:custGeom>
            <a:avLst/>
            <a:gdLst/>
            <a:ahLst/>
            <a:cxnLst/>
            <a:rect l="l" t="t" r="r" b="b"/>
            <a:pathLst>
              <a:path w="4696945" h="1006288">
                <a:moveTo>
                  <a:pt x="0" y="0"/>
                </a:moveTo>
                <a:lnTo>
                  <a:pt x="4696945" y="0"/>
                </a:lnTo>
                <a:lnTo>
                  <a:pt x="4696945" y="1006288"/>
                </a:lnTo>
                <a:lnTo>
                  <a:pt x="0" y="1006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615090"/>
            </a:stretch>
          </a:blipFill>
          <a:ln cap="sq">
            <a:noFill/>
            <a:prstDash val="solid"/>
            <a:miter/>
          </a:ln>
        </p:spPr>
      </p:sp>
      <p:sp>
        <p:nvSpPr>
          <p:cNvPr id="5" name="AutoShape 5"/>
          <p:cNvSpPr/>
          <p:nvPr/>
        </p:nvSpPr>
        <p:spPr>
          <a:xfrm>
            <a:off x="3914789" y="2488642"/>
            <a:ext cx="6492240" cy="0"/>
          </a:xfrm>
          <a:prstGeom prst="line">
            <a:avLst/>
          </a:prstGeom>
          <a:ln w="38100" cap="flat">
            <a:solidFill>
              <a:srgbClr val="232B3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9883818" y="4294915"/>
            <a:ext cx="6677559" cy="3554339"/>
          </a:xfrm>
          <a:custGeom>
            <a:avLst/>
            <a:gdLst/>
            <a:ahLst/>
            <a:cxnLst/>
            <a:rect l="l" t="t" r="r" b="b"/>
            <a:pathLst>
              <a:path w="6677559" h="3554339">
                <a:moveTo>
                  <a:pt x="0" y="0"/>
                </a:moveTo>
                <a:lnTo>
                  <a:pt x="6677558" y="0"/>
                </a:lnTo>
                <a:lnTo>
                  <a:pt x="6677558" y="3554339"/>
                </a:lnTo>
                <a:lnTo>
                  <a:pt x="0" y="35543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1101970"/>
            <a:ext cx="10184798" cy="1358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98"/>
              </a:lnSpc>
            </a:pPr>
            <a:r>
              <a:rPr lang="en-US" sz="7998">
                <a:solidFill>
                  <a:srgbClr val="232B38"/>
                </a:solidFill>
                <a:latin typeface="Shrikhand"/>
                <a:ea typeface="Shrikhand"/>
                <a:cs typeface="Shrikhand"/>
                <a:sym typeface="Shrikhand"/>
              </a:rPr>
              <a:t>METHODOLOGY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781935"/>
            <a:ext cx="8855118" cy="4701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17" lvl="1" indent="-410209" algn="l">
              <a:lnSpc>
                <a:spcPts val="5319"/>
              </a:lnSpc>
              <a:buAutoNum type="arabicPeriod"/>
            </a:pPr>
            <a:r>
              <a:rPr lang="en-US" sz="3799" dirty="0">
                <a:solidFill>
                  <a:srgbClr val="232B38"/>
                </a:solidFill>
                <a:latin typeface="Shrikhand"/>
                <a:ea typeface="Shrikhand"/>
                <a:cs typeface="Shrikhand"/>
                <a:sym typeface="Shrikhand"/>
              </a:rPr>
              <a:t> Data Loading &amp; Preprocessing</a:t>
            </a:r>
          </a:p>
          <a:p>
            <a:pPr algn="l">
              <a:lnSpc>
                <a:spcPts val="5319"/>
              </a:lnSpc>
            </a:pPr>
            <a:endParaRPr lang="en-US" sz="3799" dirty="0">
              <a:solidFill>
                <a:srgbClr val="232B38"/>
              </a:solidFill>
              <a:latin typeface="Shrikhand"/>
              <a:ea typeface="Shrikhand"/>
              <a:cs typeface="Shrikhand"/>
              <a:sym typeface="Shrikhand"/>
            </a:endParaRP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 dirty="0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loading from csv format to </a:t>
            </a:r>
            <a:r>
              <a:rPr lang="en-US" sz="3799" dirty="0" err="1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Dataframe</a:t>
            </a:r>
            <a:r>
              <a:rPr lang="en-US" sz="3799" dirty="0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 dirty="0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Data-Preprocessing, the duplicated records are dropped and the null values are replaced with central tendencies.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260758" y="9388426"/>
            <a:ext cx="3903912" cy="2129406"/>
          </a:xfrm>
          <a:custGeom>
            <a:avLst/>
            <a:gdLst/>
            <a:ahLst/>
            <a:cxnLst/>
            <a:rect l="l" t="t" r="r" b="b"/>
            <a:pathLst>
              <a:path w="3903912" h="2129406">
                <a:moveTo>
                  <a:pt x="3903912" y="0"/>
                </a:moveTo>
                <a:lnTo>
                  <a:pt x="0" y="0"/>
                </a:lnTo>
                <a:lnTo>
                  <a:pt x="0" y="2129407"/>
                </a:lnTo>
                <a:lnTo>
                  <a:pt x="3903912" y="2129407"/>
                </a:lnTo>
                <a:lnTo>
                  <a:pt x="390391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35426" y="-248203"/>
            <a:ext cx="3453247" cy="2079620"/>
          </a:xfrm>
          <a:custGeom>
            <a:avLst/>
            <a:gdLst/>
            <a:ahLst/>
            <a:cxnLst/>
            <a:rect l="l" t="t" r="r" b="b"/>
            <a:pathLst>
              <a:path w="3453247" h="2079620">
                <a:moveTo>
                  <a:pt x="0" y="0"/>
                </a:moveTo>
                <a:lnTo>
                  <a:pt x="3453247" y="0"/>
                </a:lnTo>
                <a:lnTo>
                  <a:pt x="3453247" y="2079620"/>
                </a:lnTo>
                <a:lnTo>
                  <a:pt x="0" y="20796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54396"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13842609" y="9316715"/>
            <a:ext cx="4696945" cy="1006288"/>
          </a:xfrm>
          <a:custGeom>
            <a:avLst/>
            <a:gdLst/>
            <a:ahLst/>
            <a:cxnLst/>
            <a:rect l="l" t="t" r="r" b="b"/>
            <a:pathLst>
              <a:path w="4696945" h="1006288">
                <a:moveTo>
                  <a:pt x="0" y="0"/>
                </a:moveTo>
                <a:lnTo>
                  <a:pt x="4696945" y="0"/>
                </a:lnTo>
                <a:lnTo>
                  <a:pt x="4696945" y="1006288"/>
                </a:lnTo>
                <a:lnTo>
                  <a:pt x="0" y="1006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615090"/>
            </a:stretch>
          </a:blipFill>
          <a:ln cap="sq">
            <a:noFill/>
            <a:prstDash val="solid"/>
            <a:miter/>
          </a:ln>
        </p:spPr>
      </p:sp>
      <p:sp>
        <p:nvSpPr>
          <p:cNvPr id="5" name="AutoShape 5"/>
          <p:cNvSpPr/>
          <p:nvPr/>
        </p:nvSpPr>
        <p:spPr>
          <a:xfrm>
            <a:off x="4634272" y="2458496"/>
            <a:ext cx="6492240" cy="0"/>
          </a:xfrm>
          <a:prstGeom prst="line">
            <a:avLst/>
          </a:prstGeom>
          <a:ln w="38100" cap="flat">
            <a:solidFill>
              <a:srgbClr val="232B3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2109232" y="7256623"/>
            <a:ext cx="4502181" cy="1215673"/>
          </a:xfrm>
          <a:custGeom>
            <a:avLst/>
            <a:gdLst/>
            <a:ahLst/>
            <a:cxnLst/>
            <a:rect l="l" t="t" r="r" b="b"/>
            <a:pathLst>
              <a:path w="4502181" h="1215673">
                <a:moveTo>
                  <a:pt x="0" y="0"/>
                </a:moveTo>
                <a:lnTo>
                  <a:pt x="4502181" y="0"/>
                </a:lnTo>
                <a:lnTo>
                  <a:pt x="4502181" y="1215672"/>
                </a:lnTo>
                <a:lnTo>
                  <a:pt x="0" y="12156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855723" y="2259147"/>
            <a:ext cx="3588308" cy="2655753"/>
          </a:xfrm>
          <a:custGeom>
            <a:avLst/>
            <a:gdLst/>
            <a:ahLst/>
            <a:cxnLst/>
            <a:rect l="l" t="t" r="r" b="b"/>
            <a:pathLst>
              <a:path w="3588308" h="2655753">
                <a:moveTo>
                  <a:pt x="0" y="0"/>
                </a:moveTo>
                <a:lnTo>
                  <a:pt x="3588307" y="0"/>
                </a:lnTo>
                <a:lnTo>
                  <a:pt x="3588307" y="2655753"/>
                </a:lnTo>
                <a:lnTo>
                  <a:pt x="0" y="26557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1080512"/>
            <a:ext cx="10184798" cy="1358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1198"/>
              </a:lnSpc>
            </a:pPr>
            <a:r>
              <a:rPr lang="en-US" sz="7998">
                <a:solidFill>
                  <a:srgbClr val="232B38"/>
                </a:solidFill>
                <a:latin typeface="Shrikhand"/>
                <a:ea typeface="Shrikhand"/>
                <a:cs typeface="Shrikhand"/>
                <a:sym typeface="Shrikhand"/>
              </a:rPr>
              <a:t>METHODOLOGY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2727150"/>
            <a:ext cx="12089653" cy="2309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7078" lvl="1" algn="l">
              <a:lnSpc>
                <a:spcPts val="4241"/>
              </a:lnSpc>
            </a:pPr>
            <a:r>
              <a:rPr lang="en-US" sz="3029" dirty="0">
                <a:solidFill>
                  <a:srgbClr val="232B38"/>
                </a:solidFill>
                <a:latin typeface="Shrikhand"/>
                <a:ea typeface="Shrikhand"/>
                <a:cs typeface="Shrikhand"/>
                <a:sym typeface="Shrikhand"/>
              </a:rPr>
              <a:t>2. Exploratory Data Analysis</a:t>
            </a:r>
          </a:p>
          <a:p>
            <a:pPr marL="516441" lvl="1" indent="-258220" algn="l">
              <a:lnSpc>
                <a:spcPts val="3348"/>
              </a:lnSpc>
              <a:buFont typeface="Arial"/>
              <a:buChar char="•"/>
            </a:pPr>
            <a:r>
              <a:rPr lang="en-US" sz="2392" dirty="0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Visualized the distribution of final grades to understand overall student performance</a:t>
            </a:r>
          </a:p>
          <a:p>
            <a:pPr marL="516441" lvl="1" indent="-258220" algn="l">
              <a:lnSpc>
                <a:spcPts val="3348"/>
              </a:lnSpc>
              <a:buFont typeface="Arial"/>
              <a:buChar char="•"/>
            </a:pPr>
            <a:r>
              <a:rPr lang="en-US" sz="2392" dirty="0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Analyzed relationships between features (e.g., G1, G2) and final grade to identify key influencing factors</a:t>
            </a:r>
          </a:p>
          <a:p>
            <a:pPr algn="l">
              <a:lnSpc>
                <a:spcPts val="4241"/>
              </a:lnSpc>
            </a:pPr>
            <a:endParaRPr lang="en-US" sz="2392" dirty="0">
              <a:solidFill>
                <a:srgbClr val="232B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31158" y="4782708"/>
            <a:ext cx="14240232" cy="2197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7089" lvl="1" algn="l">
              <a:lnSpc>
                <a:spcPts val="4241"/>
              </a:lnSpc>
            </a:pPr>
            <a:r>
              <a:rPr lang="en-US" sz="3029" dirty="0">
                <a:solidFill>
                  <a:srgbClr val="232B38"/>
                </a:solidFill>
                <a:latin typeface="Shrikhand"/>
                <a:ea typeface="Shrikhand"/>
                <a:cs typeface="Shrikhand"/>
                <a:sym typeface="Shrikhand"/>
              </a:rPr>
              <a:t>3. Feature Selection &amp; Encoding</a:t>
            </a:r>
          </a:p>
          <a:p>
            <a:pPr marL="516214" lvl="1" indent="-258107" algn="l">
              <a:lnSpc>
                <a:spcPts val="3347"/>
              </a:lnSpc>
              <a:buFont typeface="Arial"/>
              <a:buChar char="•"/>
            </a:pPr>
            <a:r>
              <a:rPr lang="en-US" sz="2390" dirty="0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Selected important features like study time, failures, absences, G1, and G2 based on their impact on performance</a:t>
            </a:r>
          </a:p>
          <a:p>
            <a:pPr marL="516214" lvl="1" indent="-258107" algn="l">
              <a:lnSpc>
                <a:spcPts val="3347"/>
              </a:lnSpc>
              <a:buFont typeface="Arial"/>
              <a:buChar char="•"/>
            </a:pPr>
            <a:r>
              <a:rPr lang="en-US" sz="2390" dirty="0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Converted categorical data (e.g., gender) into numerical form using encoding techniques</a:t>
            </a:r>
          </a:p>
          <a:p>
            <a:pPr algn="l">
              <a:lnSpc>
                <a:spcPts val="3347"/>
              </a:lnSpc>
            </a:pPr>
            <a:endParaRPr lang="en-US" sz="2390" dirty="0">
              <a:solidFill>
                <a:srgbClr val="232B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6890672"/>
            <a:ext cx="12089653" cy="1875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7089" lvl="1" algn="l">
              <a:lnSpc>
                <a:spcPts val="4241"/>
              </a:lnSpc>
            </a:pPr>
            <a:r>
              <a:rPr lang="en-US" sz="3029" dirty="0">
                <a:solidFill>
                  <a:srgbClr val="232B38"/>
                </a:solidFill>
                <a:latin typeface="Shrikhand"/>
                <a:ea typeface="Shrikhand"/>
                <a:cs typeface="Shrikhand"/>
                <a:sym typeface="Shrikhand"/>
              </a:rPr>
              <a:t>4. Train-Test-Split</a:t>
            </a:r>
          </a:p>
          <a:p>
            <a:pPr marL="516002" lvl="1" indent="-258001" algn="l">
              <a:lnSpc>
                <a:spcPts val="3346"/>
              </a:lnSpc>
              <a:buFont typeface="Arial"/>
              <a:buChar char="•"/>
            </a:pPr>
            <a:r>
              <a:rPr lang="en-US" sz="2390" dirty="0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Divided the dataset into training (80%) and testing (20%) sets</a:t>
            </a:r>
          </a:p>
          <a:p>
            <a:pPr marL="516002" lvl="1" indent="-258001" algn="l">
              <a:lnSpc>
                <a:spcPts val="3346"/>
              </a:lnSpc>
              <a:buFont typeface="Arial"/>
              <a:buChar char="•"/>
            </a:pPr>
            <a:r>
              <a:rPr lang="en-US" sz="2390" dirty="0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training data to build the model and testing data to evaluate its performance</a:t>
            </a:r>
          </a:p>
          <a:p>
            <a:pPr algn="l">
              <a:lnSpc>
                <a:spcPts val="4241"/>
              </a:lnSpc>
              <a:spcBef>
                <a:spcPct val="0"/>
              </a:spcBef>
            </a:pPr>
            <a:endParaRPr lang="en-US" sz="2390" dirty="0">
              <a:solidFill>
                <a:srgbClr val="232B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384088" y="9258300"/>
            <a:ext cx="3903912" cy="2129406"/>
          </a:xfrm>
          <a:custGeom>
            <a:avLst/>
            <a:gdLst/>
            <a:ahLst/>
            <a:cxnLst/>
            <a:rect l="l" t="t" r="r" b="b"/>
            <a:pathLst>
              <a:path w="3903912" h="2129406">
                <a:moveTo>
                  <a:pt x="0" y="0"/>
                </a:moveTo>
                <a:lnTo>
                  <a:pt x="3903912" y="0"/>
                </a:lnTo>
                <a:lnTo>
                  <a:pt x="3903912" y="2129406"/>
                </a:lnTo>
                <a:lnTo>
                  <a:pt x="0" y="2129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flipH="1">
            <a:off x="14834753" y="-11110"/>
            <a:ext cx="3453247" cy="2079620"/>
          </a:xfrm>
          <a:custGeom>
            <a:avLst/>
            <a:gdLst/>
            <a:ahLst/>
            <a:cxnLst/>
            <a:rect l="l" t="t" r="r" b="b"/>
            <a:pathLst>
              <a:path w="3453247" h="2079620">
                <a:moveTo>
                  <a:pt x="3453247" y="0"/>
                </a:moveTo>
                <a:lnTo>
                  <a:pt x="0" y="0"/>
                </a:lnTo>
                <a:lnTo>
                  <a:pt x="0" y="2079620"/>
                </a:lnTo>
                <a:lnTo>
                  <a:pt x="3453247" y="2079620"/>
                </a:lnTo>
                <a:lnTo>
                  <a:pt x="345324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54396"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0" y="9280712"/>
            <a:ext cx="4696945" cy="1006288"/>
          </a:xfrm>
          <a:custGeom>
            <a:avLst/>
            <a:gdLst/>
            <a:ahLst/>
            <a:cxnLst/>
            <a:rect l="l" t="t" r="r" b="b"/>
            <a:pathLst>
              <a:path w="4696945" h="1006288">
                <a:moveTo>
                  <a:pt x="0" y="0"/>
                </a:moveTo>
                <a:lnTo>
                  <a:pt x="4696945" y="0"/>
                </a:lnTo>
                <a:lnTo>
                  <a:pt x="4696945" y="1006288"/>
                </a:lnTo>
                <a:lnTo>
                  <a:pt x="0" y="1006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615090"/>
            </a:stretch>
          </a:blipFill>
          <a:ln cap="sq">
            <a:noFill/>
            <a:prstDash val="solid"/>
            <a:miter/>
          </a:ln>
        </p:spPr>
      </p:sp>
      <p:sp>
        <p:nvSpPr>
          <p:cNvPr id="5" name="AutoShape 5"/>
          <p:cNvSpPr/>
          <p:nvPr/>
        </p:nvSpPr>
        <p:spPr>
          <a:xfrm>
            <a:off x="3914789" y="2488642"/>
            <a:ext cx="6492240" cy="0"/>
          </a:xfrm>
          <a:prstGeom prst="line">
            <a:avLst/>
          </a:prstGeom>
          <a:ln w="38100" cap="flat">
            <a:solidFill>
              <a:srgbClr val="232B3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028700" y="3186346"/>
            <a:ext cx="11156715" cy="3133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7089" lvl="1" algn="l">
              <a:lnSpc>
                <a:spcPts val="4241"/>
              </a:lnSpc>
            </a:pPr>
            <a:r>
              <a:rPr lang="en-US" sz="3029" dirty="0">
                <a:solidFill>
                  <a:srgbClr val="232B38"/>
                </a:solidFill>
                <a:latin typeface="Shrikhand"/>
                <a:ea typeface="Shrikhand"/>
                <a:cs typeface="Shrikhand"/>
                <a:sym typeface="Shrikhand"/>
              </a:rPr>
              <a:t>5. Model Building using Random Forest</a:t>
            </a:r>
          </a:p>
          <a:p>
            <a:pPr marL="516002" lvl="1" indent="-258001" algn="l">
              <a:lnSpc>
                <a:spcPts val="3346"/>
              </a:lnSpc>
              <a:buFont typeface="Arial"/>
              <a:buChar char="•"/>
            </a:pPr>
            <a:r>
              <a:rPr lang="en-US" sz="2390" dirty="0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Selected input features (X) and target variable (G3)</a:t>
            </a:r>
          </a:p>
          <a:p>
            <a:pPr marL="516002" lvl="1" indent="-258001" algn="l">
              <a:lnSpc>
                <a:spcPts val="3346"/>
              </a:lnSpc>
              <a:buFont typeface="Arial"/>
              <a:buChar char="•"/>
            </a:pPr>
            <a:r>
              <a:rPr lang="en-US" sz="2390" dirty="0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Split data into training and testing sets</a:t>
            </a:r>
          </a:p>
          <a:p>
            <a:pPr marL="516002" lvl="1" indent="-258001" algn="l">
              <a:lnSpc>
                <a:spcPts val="3346"/>
              </a:lnSpc>
              <a:buFont typeface="Arial"/>
              <a:buChar char="•"/>
            </a:pPr>
            <a:r>
              <a:rPr lang="en-US" sz="2390" dirty="0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Initialized Random Forest Regressor with parameters (</a:t>
            </a:r>
            <a:r>
              <a:rPr lang="en-US" sz="2390" dirty="0" err="1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n_estimators</a:t>
            </a:r>
            <a:r>
              <a:rPr lang="en-US" sz="2390" dirty="0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390" dirty="0" err="1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random_state</a:t>
            </a:r>
            <a:r>
              <a:rPr lang="en-US" sz="2390" dirty="0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  <a:p>
            <a:pPr marL="516002" lvl="1" indent="-258001" algn="l">
              <a:lnSpc>
                <a:spcPts val="3346"/>
              </a:lnSpc>
              <a:buFont typeface="Arial"/>
              <a:buChar char="•"/>
            </a:pPr>
            <a:r>
              <a:rPr lang="en-US" sz="2390" dirty="0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Trained the model using training data</a:t>
            </a:r>
          </a:p>
          <a:p>
            <a:pPr marL="516002" lvl="1" indent="-258001" algn="l">
              <a:lnSpc>
                <a:spcPts val="3346"/>
              </a:lnSpc>
              <a:buFont typeface="Arial"/>
              <a:buChar char="•"/>
            </a:pPr>
            <a:r>
              <a:rPr lang="en-US" sz="2390" dirty="0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the trained model to make predictions on test data</a:t>
            </a:r>
          </a:p>
          <a:p>
            <a:pPr algn="l">
              <a:lnSpc>
                <a:spcPts val="4200"/>
              </a:lnSpc>
            </a:pPr>
            <a:endParaRPr lang="en-US" sz="2390" dirty="0">
              <a:solidFill>
                <a:srgbClr val="232B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8760594" y="5587788"/>
            <a:ext cx="7575450" cy="977107"/>
          </a:xfrm>
          <a:custGeom>
            <a:avLst/>
            <a:gdLst/>
            <a:ahLst/>
            <a:cxnLst/>
            <a:rect l="l" t="t" r="r" b="b"/>
            <a:pathLst>
              <a:path w="7575450" h="977107">
                <a:moveTo>
                  <a:pt x="0" y="0"/>
                </a:moveTo>
                <a:lnTo>
                  <a:pt x="7575450" y="0"/>
                </a:lnTo>
                <a:lnTo>
                  <a:pt x="7575450" y="977106"/>
                </a:lnTo>
                <a:lnTo>
                  <a:pt x="0" y="9771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1101970"/>
            <a:ext cx="10184798" cy="1358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98"/>
              </a:lnSpc>
            </a:pPr>
            <a:r>
              <a:rPr lang="en-US" sz="7998">
                <a:solidFill>
                  <a:srgbClr val="232B38"/>
                </a:solidFill>
                <a:latin typeface="Shrikhand"/>
                <a:ea typeface="Shrikhand"/>
                <a:cs typeface="Shrikhand"/>
                <a:sym typeface="Shrikhand"/>
              </a:rPr>
              <a:t>METHODOLOGY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260758" y="9388426"/>
            <a:ext cx="3903912" cy="2129406"/>
          </a:xfrm>
          <a:custGeom>
            <a:avLst/>
            <a:gdLst/>
            <a:ahLst/>
            <a:cxnLst/>
            <a:rect l="l" t="t" r="r" b="b"/>
            <a:pathLst>
              <a:path w="3903912" h="2129406">
                <a:moveTo>
                  <a:pt x="3903912" y="0"/>
                </a:moveTo>
                <a:lnTo>
                  <a:pt x="0" y="0"/>
                </a:lnTo>
                <a:lnTo>
                  <a:pt x="0" y="2129407"/>
                </a:lnTo>
                <a:lnTo>
                  <a:pt x="3903912" y="2129407"/>
                </a:lnTo>
                <a:lnTo>
                  <a:pt x="390391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35426" y="-248203"/>
            <a:ext cx="3453247" cy="2079620"/>
          </a:xfrm>
          <a:custGeom>
            <a:avLst/>
            <a:gdLst/>
            <a:ahLst/>
            <a:cxnLst/>
            <a:rect l="l" t="t" r="r" b="b"/>
            <a:pathLst>
              <a:path w="3453247" h="2079620">
                <a:moveTo>
                  <a:pt x="0" y="0"/>
                </a:moveTo>
                <a:lnTo>
                  <a:pt x="3453247" y="0"/>
                </a:lnTo>
                <a:lnTo>
                  <a:pt x="3453247" y="2079620"/>
                </a:lnTo>
                <a:lnTo>
                  <a:pt x="0" y="20796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54396"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13842609" y="9316715"/>
            <a:ext cx="4696945" cy="1006288"/>
          </a:xfrm>
          <a:custGeom>
            <a:avLst/>
            <a:gdLst/>
            <a:ahLst/>
            <a:cxnLst/>
            <a:rect l="l" t="t" r="r" b="b"/>
            <a:pathLst>
              <a:path w="4696945" h="1006288">
                <a:moveTo>
                  <a:pt x="0" y="0"/>
                </a:moveTo>
                <a:lnTo>
                  <a:pt x="4696945" y="0"/>
                </a:lnTo>
                <a:lnTo>
                  <a:pt x="4696945" y="1006288"/>
                </a:lnTo>
                <a:lnTo>
                  <a:pt x="0" y="1006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615090"/>
            </a:stretch>
          </a:blipFill>
          <a:ln cap="sq">
            <a:noFill/>
            <a:prstDash val="solid"/>
            <a:miter/>
          </a:ln>
        </p:spPr>
      </p:sp>
      <p:sp>
        <p:nvSpPr>
          <p:cNvPr id="5" name="AutoShape 5"/>
          <p:cNvSpPr/>
          <p:nvPr/>
        </p:nvSpPr>
        <p:spPr>
          <a:xfrm>
            <a:off x="7466113" y="2478499"/>
            <a:ext cx="7972692" cy="0"/>
          </a:xfrm>
          <a:prstGeom prst="line">
            <a:avLst/>
          </a:prstGeom>
          <a:ln w="38100" cap="flat">
            <a:solidFill>
              <a:srgbClr val="232B3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2179080" y="4102686"/>
            <a:ext cx="5555637" cy="4388567"/>
          </a:xfrm>
          <a:custGeom>
            <a:avLst/>
            <a:gdLst/>
            <a:ahLst/>
            <a:cxnLst/>
            <a:rect l="l" t="t" r="r" b="b"/>
            <a:pathLst>
              <a:path w="5555637" h="4388567">
                <a:moveTo>
                  <a:pt x="0" y="0"/>
                </a:moveTo>
                <a:lnTo>
                  <a:pt x="5555636" y="0"/>
                </a:lnTo>
                <a:lnTo>
                  <a:pt x="5555636" y="4388567"/>
                </a:lnTo>
                <a:lnTo>
                  <a:pt x="0" y="43885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912576" y="4102686"/>
            <a:ext cx="5237345" cy="4388567"/>
          </a:xfrm>
          <a:custGeom>
            <a:avLst/>
            <a:gdLst/>
            <a:ahLst/>
            <a:cxnLst/>
            <a:rect l="l" t="t" r="r" b="b"/>
            <a:pathLst>
              <a:path w="5237345" h="4388567">
                <a:moveTo>
                  <a:pt x="0" y="0"/>
                </a:moveTo>
                <a:lnTo>
                  <a:pt x="5237345" y="0"/>
                </a:lnTo>
                <a:lnTo>
                  <a:pt x="5237345" y="4388567"/>
                </a:lnTo>
                <a:lnTo>
                  <a:pt x="0" y="43885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074502" y="1050984"/>
            <a:ext cx="10184798" cy="1384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338"/>
              </a:lnSpc>
            </a:pPr>
            <a:r>
              <a:rPr lang="en-US" sz="8098">
                <a:solidFill>
                  <a:srgbClr val="232B38"/>
                </a:solidFill>
                <a:latin typeface="Shrikhand"/>
                <a:ea typeface="Shrikhand"/>
                <a:cs typeface="Shrikhand"/>
                <a:sym typeface="Shrikhand"/>
              </a:rPr>
              <a:t>Model &amp; Result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306621" y="2823160"/>
            <a:ext cx="5674757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R2 Score: 0.85 | MAE: 1.03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384088" y="9258300"/>
            <a:ext cx="3903912" cy="2129406"/>
          </a:xfrm>
          <a:custGeom>
            <a:avLst/>
            <a:gdLst/>
            <a:ahLst/>
            <a:cxnLst/>
            <a:rect l="l" t="t" r="r" b="b"/>
            <a:pathLst>
              <a:path w="3903912" h="2129406">
                <a:moveTo>
                  <a:pt x="0" y="0"/>
                </a:moveTo>
                <a:lnTo>
                  <a:pt x="3903912" y="0"/>
                </a:lnTo>
                <a:lnTo>
                  <a:pt x="3903912" y="2129406"/>
                </a:lnTo>
                <a:lnTo>
                  <a:pt x="0" y="2129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flipH="1">
            <a:off x="14834753" y="-11110"/>
            <a:ext cx="3453247" cy="2079620"/>
          </a:xfrm>
          <a:custGeom>
            <a:avLst/>
            <a:gdLst/>
            <a:ahLst/>
            <a:cxnLst/>
            <a:rect l="l" t="t" r="r" b="b"/>
            <a:pathLst>
              <a:path w="3453247" h="2079620">
                <a:moveTo>
                  <a:pt x="3453247" y="0"/>
                </a:moveTo>
                <a:lnTo>
                  <a:pt x="0" y="0"/>
                </a:lnTo>
                <a:lnTo>
                  <a:pt x="0" y="2079620"/>
                </a:lnTo>
                <a:lnTo>
                  <a:pt x="3453247" y="2079620"/>
                </a:lnTo>
                <a:lnTo>
                  <a:pt x="345324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54396"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0" y="9280712"/>
            <a:ext cx="4696945" cy="1006288"/>
          </a:xfrm>
          <a:custGeom>
            <a:avLst/>
            <a:gdLst/>
            <a:ahLst/>
            <a:cxnLst/>
            <a:rect l="l" t="t" r="r" b="b"/>
            <a:pathLst>
              <a:path w="4696945" h="1006288">
                <a:moveTo>
                  <a:pt x="0" y="0"/>
                </a:moveTo>
                <a:lnTo>
                  <a:pt x="4696945" y="0"/>
                </a:lnTo>
                <a:lnTo>
                  <a:pt x="4696945" y="1006288"/>
                </a:lnTo>
                <a:lnTo>
                  <a:pt x="0" y="1006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615090"/>
            </a:stretch>
          </a:blipFill>
          <a:ln cap="sq">
            <a:noFill/>
            <a:prstDash val="solid"/>
            <a:miter/>
          </a:ln>
        </p:spPr>
      </p:sp>
      <p:sp>
        <p:nvSpPr>
          <p:cNvPr id="5" name="TextBox 5"/>
          <p:cNvSpPr txBox="1"/>
          <p:nvPr/>
        </p:nvSpPr>
        <p:spPr>
          <a:xfrm>
            <a:off x="1028700" y="1101970"/>
            <a:ext cx="10184798" cy="1358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98"/>
              </a:lnSpc>
            </a:pPr>
            <a:r>
              <a:rPr lang="en-US" sz="7998">
                <a:solidFill>
                  <a:srgbClr val="232B38"/>
                </a:solidFill>
                <a:latin typeface="Shrikhand"/>
                <a:ea typeface="Shrikhand"/>
                <a:cs typeface="Shrikhand"/>
                <a:sym typeface="Shrikhand"/>
              </a:rPr>
              <a:t>System Demo</a:t>
            </a:r>
          </a:p>
        </p:txBody>
      </p:sp>
      <p:sp>
        <p:nvSpPr>
          <p:cNvPr id="6" name="AutoShape 6"/>
          <p:cNvSpPr/>
          <p:nvPr/>
        </p:nvSpPr>
        <p:spPr>
          <a:xfrm>
            <a:off x="2348473" y="2460902"/>
            <a:ext cx="7975565" cy="0"/>
          </a:xfrm>
          <a:prstGeom prst="line">
            <a:avLst/>
          </a:prstGeom>
          <a:ln w="38100" cap="flat">
            <a:solidFill>
              <a:srgbClr val="232B3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2348473" y="2901342"/>
            <a:ext cx="5729209" cy="6356958"/>
          </a:xfrm>
          <a:custGeom>
            <a:avLst/>
            <a:gdLst/>
            <a:ahLst/>
            <a:cxnLst/>
            <a:rect l="l" t="t" r="r" b="b"/>
            <a:pathLst>
              <a:path w="5729209" h="6356958">
                <a:moveTo>
                  <a:pt x="0" y="0"/>
                </a:moveTo>
                <a:lnTo>
                  <a:pt x="5729208" y="0"/>
                </a:lnTo>
                <a:lnTo>
                  <a:pt x="572920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144000" y="2901342"/>
            <a:ext cx="6420570" cy="6223673"/>
          </a:xfrm>
          <a:custGeom>
            <a:avLst/>
            <a:gdLst/>
            <a:ahLst/>
            <a:cxnLst/>
            <a:rect l="l" t="t" r="r" b="b"/>
            <a:pathLst>
              <a:path w="6420570" h="6223673">
                <a:moveTo>
                  <a:pt x="0" y="0"/>
                </a:moveTo>
                <a:lnTo>
                  <a:pt x="6420570" y="0"/>
                </a:lnTo>
                <a:lnTo>
                  <a:pt x="6420570" y="6223673"/>
                </a:lnTo>
                <a:lnTo>
                  <a:pt x="0" y="62236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260758" y="9388426"/>
            <a:ext cx="3903912" cy="2129406"/>
          </a:xfrm>
          <a:custGeom>
            <a:avLst/>
            <a:gdLst/>
            <a:ahLst/>
            <a:cxnLst/>
            <a:rect l="l" t="t" r="r" b="b"/>
            <a:pathLst>
              <a:path w="3903912" h="2129406">
                <a:moveTo>
                  <a:pt x="3903912" y="0"/>
                </a:moveTo>
                <a:lnTo>
                  <a:pt x="0" y="0"/>
                </a:lnTo>
                <a:lnTo>
                  <a:pt x="0" y="2129407"/>
                </a:lnTo>
                <a:lnTo>
                  <a:pt x="3903912" y="2129407"/>
                </a:lnTo>
                <a:lnTo>
                  <a:pt x="390391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35426" y="-248203"/>
            <a:ext cx="3453247" cy="2079620"/>
          </a:xfrm>
          <a:custGeom>
            <a:avLst/>
            <a:gdLst/>
            <a:ahLst/>
            <a:cxnLst/>
            <a:rect l="l" t="t" r="r" b="b"/>
            <a:pathLst>
              <a:path w="3453247" h="2079620">
                <a:moveTo>
                  <a:pt x="0" y="0"/>
                </a:moveTo>
                <a:lnTo>
                  <a:pt x="3453247" y="0"/>
                </a:lnTo>
                <a:lnTo>
                  <a:pt x="3453247" y="2079620"/>
                </a:lnTo>
                <a:lnTo>
                  <a:pt x="0" y="20796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54396"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13842609" y="9316715"/>
            <a:ext cx="4696945" cy="1006288"/>
          </a:xfrm>
          <a:custGeom>
            <a:avLst/>
            <a:gdLst/>
            <a:ahLst/>
            <a:cxnLst/>
            <a:rect l="l" t="t" r="r" b="b"/>
            <a:pathLst>
              <a:path w="4696945" h="1006288">
                <a:moveTo>
                  <a:pt x="0" y="0"/>
                </a:moveTo>
                <a:lnTo>
                  <a:pt x="4696945" y="0"/>
                </a:lnTo>
                <a:lnTo>
                  <a:pt x="4696945" y="1006288"/>
                </a:lnTo>
                <a:lnTo>
                  <a:pt x="0" y="1006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615090"/>
            </a:stretch>
          </a:blipFill>
          <a:ln cap="sq">
            <a:noFill/>
            <a:prstDash val="solid"/>
            <a:miter/>
          </a:ln>
        </p:spPr>
      </p:sp>
      <p:sp>
        <p:nvSpPr>
          <p:cNvPr id="5" name="AutoShape 5"/>
          <p:cNvSpPr/>
          <p:nvPr/>
        </p:nvSpPr>
        <p:spPr>
          <a:xfrm>
            <a:off x="9645305" y="2478499"/>
            <a:ext cx="6492240" cy="0"/>
          </a:xfrm>
          <a:prstGeom prst="line">
            <a:avLst/>
          </a:prstGeom>
          <a:ln w="38100" cap="flat">
            <a:solidFill>
              <a:srgbClr val="232B3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430519" y="2913298"/>
            <a:ext cx="13948455" cy="4818557"/>
          </a:xfrm>
          <a:custGeom>
            <a:avLst/>
            <a:gdLst/>
            <a:ahLst/>
            <a:cxnLst/>
            <a:rect l="l" t="t" r="r" b="b"/>
            <a:pathLst>
              <a:path w="13948455" h="4818557">
                <a:moveTo>
                  <a:pt x="0" y="0"/>
                </a:moveTo>
                <a:lnTo>
                  <a:pt x="13948455" y="0"/>
                </a:lnTo>
                <a:lnTo>
                  <a:pt x="13948455" y="4818557"/>
                </a:lnTo>
                <a:lnTo>
                  <a:pt x="0" y="4818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691198" y="3326209"/>
            <a:ext cx="11217629" cy="3975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4637" lvl="1" indent="-307319" algn="l">
              <a:lnSpc>
                <a:spcPts val="3985"/>
              </a:lnSpc>
              <a:buFont typeface="Arial"/>
              <a:buChar char="•"/>
            </a:pPr>
            <a:r>
              <a:rPr lang="en-US" sz="2846" dirty="0">
                <a:latin typeface="Times New Roman"/>
                <a:ea typeface="Times New Roman"/>
                <a:cs typeface="Times New Roman"/>
                <a:sym typeface="Times New Roman"/>
              </a:rPr>
              <a:t>Random Forest Regression effectively predicts the final student grade (G3)</a:t>
            </a:r>
          </a:p>
          <a:p>
            <a:pPr marL="614637" lvl="1" indent="-307319" algn="l">
              <a:lnSpc>
                <a:spcPts val="3985"/>
              </a:lnSpc>
              <a:buFont typeface="Arial"/>
              <a:buChar char="•"/>
            </a:pPr>
            <a:r>
              <a:rPr lang="en-US" sz="2846" dirty="0">
                <a:latin typeface="Times New Roman"/>
                <a:ea typeface="Times New Roman"/>
                <a:cs typeface="Times New Roman"/>
                <a:sym typeface="Times New Roman"/>
              </a:rPr>
              <a:t>The model captures complex relationships between input features and output</a:t>
            </a:r>
          </a:p>
          <a:p>
            <a:pPr marL="614637" lvl="1" indent="-307319" algn="l">
              <a:lnSpc>
                <a:spcPts val="3985"/>
              </a:lnSpc>
              <a:buFont typeface="Arial"/>
              <a:buChar char="•"/>
            </a:pPr>
            <a:r>
              <a:rPr lang="en-US" sz="2846" dirty="0">
                <a:latin typeface="Times New Roman"/>
                <a:ea typeface="Times New Roman"/>
                <a:cs typeface="Times New Roman"/>
                <a:sym typeface="Times New Roman"/>
              </a:rPr>
              <a:t>Important features like G1 and G2 strongly influence the prediction</a:t>
            </a:r>
          </a:p>
          <a:p>
            <a:pPr marL="614637" lvl="1" indent="-307319" algn="l">
              <a:lnSpc>
                <a:spcPts val="3985"/>
              </a:lnSpc>
              <a:buFont typeface="Arial"/>
              <a:buChar char="•"/>
            </a:pPr>
            <a:r>
              <a:rPr lang="en-US" sz="2846" dirty="0">
                <a:latin typeface="Times New Roman"/>
                <a:ea typeface="Times New Roman"/>
                <a:cs typeface="Times New Roman"/>
                <a:sym typeface="Times New Roman"/>
              </a:rPr>
              <a:t>The model shows good performance based on MAE and R² score</a:t>
            </a:r>
          </a:p>
          <a:p>
            <a:pPr marL="614637" lvl="1" indent="-307319" algn="l">
              <a:lnSpc>
                <a:spcPts val="3985"/>
              </a:lnSpc>
              <a:buFont typeface="Arial"/>
              <a:buChar char="•"/>
            </a:pPr>
            <a:r>
              <a:rPr lang="en-US" sz="2846" dirty="0">
                <a:latin typeface="Times New Roman"/>
                <a:ea typeface="Times New Roman"/>
                <a:cs typeface="Times New Roman"/>
                <a:sym typeface="Times New Roman"/>
              </a:rPr>
              <a:t>It can be used for real-world grade prediction and academic analysis</a:t>
            </a:r>
          </a:p>
          <a:p>
            <a:pPr algn="ctr">
              <a:lnSpc>
                <a:spcPts val="3008"/>
              </a:lnSpc>
            </a:pPr>
            <a:endParaRPr lang="en-US" sz="2846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2654696" y="8064211"/>
            <a:ext cx="7315200" cy="1755648"/>
          </a:xfrm>
          <a:custGeom>
            <a:avLst/>
            <a:gdLst/>
            <a:ahLst/>
            <a:cxnLst/>
            <a:rect l="l" t="t" r="r" b="b"/>
            <a:pathLst>
              <a:path w="7315200" h="1755648">
                <a:moveTo>
                  <a:pt x="0" y="0"/>
                </a:moveTo>
                <a:lnTo>
                  <a:pt x="7315200" y="0"/>
                </a:lnTo>
                <a:lnTo>
                  <a:pt x="7315200" y="1755648"/>
                </a:lnTo>
                <a:lnTo>
                  <a:pt x="0" y="17556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074502" y="1060509"/>
            <a:ext cx="10184798" cy="1358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198"/>
              </a:lnSpc>
            </a:pPr>
            <a:r>
              <a:rPr lang="en-US" sz="7998">
                <a:solidFill>
                  <a:srgbClr val="232B38"/>
                </a:solidFill>
                <a:latin typeface="Shrikhand"/>
                <a:ea typeface="Shrikhand"/>
                <a:cs typeface="Shrikhand"/>
                <a:sym typeface="Shrikhand"/>
              </a:rPr>
              <a:t>CONCLUSION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960788" y="8192735"/>
            <a:ext cx="6703014" cy="140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 i="1" dirty="0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Reference link: </a:t>
            </a:r>
            <a:r>
              <a:rPr lang="en-US" sz="3999" b="1" i="1" u="sng" dirty="0" err="1">
                <a:solidFill>
                  <a:srgbClr val="0F27DB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  <a:hlinkClick r:id="rId6" tooltip="https://student-performance-predictor18.streamlit.ap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Model_Link</a:t>
            </a:r>
            <a:endParaRPr lang="en-US" sz="3999" b="1" i="1" u="sng" dirty="0">
              <a:solidFill>
                <a:srgbClr val="0F27DB"/>
              </a:solidFill>
              <a:latin typeface="Times New Roman Bold Italics"/>
              <a:ea typeface="Times New Roman Bold Italics"/>
              <a:cs typeface="Times New Roman Bold Italics"/>
              <a:sym typeface="Times New Roman Bold Italics"/>
              <a:hlinkClick r:id="rId6" tooltip="https://student-performance-predictor18.streamlit.ap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i="1" dirty="0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GitHub: </a:t>
            </a:r>
            <a:r>
              <a:rPr lang="en-US" sz="3999" b="1" i="1" u="sng" dirty="0" err="1">
                <a:solidFill>
                  <a:srgbClr val="0F27DB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  <a:hlinkClick r:id="rId7" tooltip="https://github.com/priyanshugupta18-web/student-performance-predicto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Repo_Link</a:t>
            </a:r>
            <a:endParaRPr lang="en-US" sz="3999" b="1" i="1" u="sng" dirty="0">
              <a:solidFill>
                <a:srgbClr val="0F27DB"/>
              </a:solidFill>
              <a:latin typeface="Times New Roman Bold Italics"/>
              <a:ea typeface="Times New Roman Bold Italics"/>
              <a:cs typeface="Times New Roman Bold Italics"/>
              <a:sym typeface="Times New Roman Bold Italics"/>
              <a:hlinkClick r:id="rId7" tooltip="https://github.com/priyanshugupta18-web/student-performance-predicto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84325" y="-308312"/>
            <a:ext cx="7903675" cy="11562784"/>
          </a:xfrm>
          <a:custGeom>
            <a:avLst/>
            <a:gdLst/>
            <a:ahLst/>
            <a:cxnLst/>
            <a:rect l="l" t="t" r="r" b="b"/>
            <a:pathLst>
              <a:path w="7903675" h="11562784">
                <a:moveTo>
                  <a:pt x="0" y="0"/>
                </a:moveTo>
                <a:lnTo>
                  <a:pt x="7903675" y="0"/>
                </a:lnTo>
                <a:lnTo>
                  <a:pt x="7903675" y="11562784"/>
                </a:lnTo>
                <a:lnTo>
                  <a:pt x="0" y="115627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603663" y="3101214"/>
            <a:ext cx="7436856" cy="2139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01"/>
              </a:lnSpc>
            </a:pPr>
            <a:r>
              <a:rPr lang="en-US" sz="12501">
                <a:solidFill>
                  <a:srgbClr val="232B38"/>
                </a:solidFill>
                <a:latin typeface="Shrikhand"/>
                <a:ea typeface="Shrikhand"/>
                <a:cs typeface="Shrikhand"/>
                <a:sym typeface="Shrikhand"/>
              </a:rPr>
              <a:t>THANK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03663" y="4456656"/>
            <a:ext cx="10940124" cy="315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46"/>
              </a:lnSpc>
            </a:pPr>
            <a:r>
              <a:rPr lang="en-US" sz="18390">
                <a:solidFill>
                  <a:srgbClr val="232B38"/>
                </a:solidFill>
                <a:latin typeface="Shrikhand"/>
                <a:ea typeface="Shrikhand"/>
                <a:cs typeface="Shrikhand"/>
                <a:sym typeface="Shrikhand"/>
              </a:rPr>
              <a:t>YOU</a:t>
            </a:r>
          </a:p>
        </p:txBody>
      </p:sp>
      <p:sp>
        <p:nvSpPr>
          <p:cNvPr id="5" name="Freeform 5"/>
          <p:cNvSpPr/>
          <p:nvPr/>
        </p:nvSpPr>
        <p:spPr>
          <a:xfrm flipH="1">
            <a:off x="-4652854" y="-308312"/>
            <a:ext cx="7903675" cy="11562784"/>
          </a:xfrm>
          <a:custGeom>
            <a:avLst/>
            <a:gdLst/>
            <a:ahLst/>
            <a:cxnLst/>
            <a:rect l="l" t="t" r="r" b="b"/>
            <a:pathLst>
              <a:path w="7903675" h="11562784">
                <a:moveTo>
                  <a:pt x="7903675" y="0"/>
                </a:moveTo>
                <a:lnTo>
                  <a:pt x="0" y="0"/>
                </a:lnTo>
                <a:lnTo>
                  <a:pt x="0" y="11562784"/>
                </a:lnTo>
                <a:lnTo>
                  <a:pt x="7903675" y="11562784"/>
                </a:lnTo>
                <a:lnTo>
                  <a:pt x="790367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387</Words>
  <Application>Microsoft Office PowerPoint</Application>
  <PresentationFormat>Custom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Muli</vt:lpstr>
      <vt:lpstr>Shrikhand</vt:lpstr>
      <vt:lpstr>Times New Roman Bold Italics</vt:lpstr>
      <vt:lpstr>Times New Roman</vt:lpstr>
      <vt:lpstr>Muli Bold Italics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Black Geometric Abstract Project Presentation</dc:title>
  <dc:creator>Priyanshu Gupta</dc:creator>
  <cp:lastModifiedBy>Priyanshu Gupta</cp:lastModifiedBy>
  <cp:revision>4</cp:revision>
  <dcterms:created xsi:type="dcterms:W3CDTF">2006-08-16T00:00:00Z</dcterms:created>
  <dcterms:modified xsi:type="dcterms:W3CDTF">2026-05-03T16:13:51Z</dcterms:modified>
  <dc:identifier>DAHInTshtis</dc:identifier>
</cp:coreProperties>
</file>