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uli" panose="020B0604020202020204" charset="0"/>
      <p:regular r:id="rId12"/>
    </p:embeddedFont>
    <p:embeddedFont>
      <p:font typeface="Muli Bold Italics" panose="020B0604020202020204" charset="0"/>
      <p:regular r:id="rId13"/>
    </p:embeddedFont>
    <p:embeddedFont>
      <p:font typeface="Shrikhand" panose="020B0604020202020204" charset="0"/>
      <p:regular r:id="rId14"/>
    </p:embeddedFont>
    <p:embeddedFont>
      <p:font typeface="Times New Roman Bol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www.kaggle.com/code/mohamedredaibrahim/student-performance-datas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hyperlink" Target="https://github.com/priyanshugupta18-web/student-performance-predictor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tudent-performance-predictor18.streamlit.app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514" y="6611490"/>
            <a:ext cx="9608910" cy="3319442"/>
          </a:xfrm>
          <a:custGeom>
            <a:avLst/>
            <a:gdLst/>
            <a:ahLst/>
            <a:cxnLst/>
            <a:rect l="l" t="t" r="r" b="b"/>
            <a:pathLst>
              <a:path w="9608910" h="3319442">
                <a:moveTo>
                  <a:pt x="0" y="0"/>
                </a:moveTo>
                <a:lnTo>
                  <a:pt x="9608910" y="0"/>
                </a:lnTo>
                <a:lnTo>
                  <a:pt x="9608910" y="3319442"/>
                </a:lnTo>
                <a:lnTo>
                  <a:pt x="0" y="3319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5514" y="1425242"/>
            <a:ext cx="11208305" cy="156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5"/>
              </a:lnSpc>
            </a:pPr>
            <a:r>
              <a:rPr lang="en-US" sz="9132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250" y="3612226"/>
            <a:ext cx="11948042" cy="169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for Predection Model</a:t>
            </a:r>
          </a:p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~Dr. Palak Mahajan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7173" y="7000772"/>
            <a:ext cx="7674656" cy="244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Ankit Kumar Ojha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Gyan Prakash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Krishna Kumar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Priyanshu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5612224"/>
            <a:ext cx="11156715" cy="337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machine learning model to predict student perfromance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regression (Random Forest) technique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how different academic factors affect final results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user-friendly interface for real-time predictions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decision-making using data-driven insights.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364449"/>
            <a:ext cx="1018479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Solution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2411693" y="5383624"/>
            <a:ext cx="2846107" cy="1905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904875"/>
            <a:ext cx="90297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82978"/>
            <a:ext cx="11699614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predict student performance (pass/fail and final grade) using machine learning based on academic data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3050830" y="1866900"/>
            <a:ext cx="7845770" cy="3810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8863398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285041" y="2748915"/>
            <a:ext cx="11156715" cy="66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Dataset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Source: </a:t>
            </a:r>
            <a:r>
              <a:rPr lang="en-US" sz="3200" u="sng" dirty="0">
                <a:solidFill>
                  <a:srgbClr val="0F27DB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  <a:hlinkClick r:id="rId4" tooltip="https://www.kaggle.com/code/mohamedredaibrahim/student-performance-datas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200+records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Labeled dataset </a:t>
            </a:r>
          </a:p>
          <a:p>
            <a:pPr algn="l">
              <a:lnSpc>
                <a:spcPts val="4900"/>
              </a:lnSpc>
            </a:pPr>
            <a:endParaRPr lang="en-US" sz="3200" dirty="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Tools &amp; Technologies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Python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Pandas, NumPy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Matplotlib, Seaborn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Scikit-learn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Streamlit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863398" y="3007190"/>
            <a:ext cx="8331846" cy="2791168"/>
          </a:xfrm>
          <a:custGeom>
            <a:avLst/>
            <a:gdLst/>
            <a:ahLst/>
            <a:cxnLst/>
            <a:rect l="l" t="t" r="r" b="b"/>
            <a:pathLst>
              <a:path w="8331846" h="2791168">
                <a:moveTo>
                  <a:pt x="0" y="0"/>
                </a:moveTo>
                <a:lnTo>
                  <a:pt x="8331846" y="0"/>
                </a:lnTo>
                <a:lnTo>
                  <a:pt x="8331846" y="2791168"/>
                </a:lnTo>
                <a:lnTo>
                  <a:pt x="0" y="2791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sz="800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Dataset &amp;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883818" y="4294915"/>
            <a:ext cx="6677559" cy="3554339"/>
          </a:xfrm>
          <a:custGeom>
            <a:avLst/>
            <a:gdLst/>
            <a:ahLst/>
            <a:cxnLst/>
            <a:rect l="l" t="t" r="r" b="b"/>
            <a:pathLst>
              <a:path w="6677559" h="3554339">
                <a:moveTo>
                  <a:pt x="0" y="0"/>
                </a:moveTo>
                <a:lnTo>
                  <a:pt x="6677558" y="0"/>
                </a:lnTo>
                <a:lnTo>
                  <a:pt x="6677558" y="3554339"/>
                </a:lnTo>
                <a:lnTo>
                  <a:pt x="0" y="3554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81935"/>
            <a:ext cx="8855118" cy="464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AutoNum type="arabicPeriod"/>
            </a:pPr>
            <a:r>
              <a:rPr lang="en-US" sz="3799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Data Loading &amp; Preprocessing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232B38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 from csv format to DataFrame.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Data-Preprocessing, the duplicated records are dropped and the null values are replaced with central tendencies.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4634272" y="2458496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2109232" y="7256623"/>
            <a:ext cx="4502181" cy="1215673"/>
          </a:xfrm>
          <a:custGeom>
            <a:avLst/>
            <a:gdLst/>
            <a:ahLst/>
            <a:cxnLst/>
            <a:rect l="l" t="t" r="r" b="b"/>
            <a:pathLst>
              <a:path w="4502181" h="1215673">
                <a:moveTo>
                  <a:pt x="0" y="0"/>
                </a:moveTo>
                <a:lnTo>
                  <a:pt x="4502181" y="0"/>
                </a:lnTo>
                <a:lnTo>
                  <a:pt x="4502181" y="1215672"/>
                </a:lnTo>
                <a:lnTo>
                  <a:pt x="0" y="1215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55723" y="2259147"/>
            <a:ext cx="3588308" cy="2655753"/>
          </a:xfrm>
          <a:custGeom>
            <a:avLst/>
            <a:gdLst/>
            <a:ahLst/>
            <a:cxnLst/>
            <a:rect l="l" t="t" r="r" b="b"/>
            <a:pathLst>
              <a:path w="3588308" h="2655753">
                <a:moveTo>
                  <a:pt x="0" y="0"/>
                </a:moveTo>
                <a:lnTo>
                  <a:pt x="3588307" y="0"/>
                </a:lnTo>
                <a:lnTo>
                  <a:pt x="3588307" y="2655753"/>
                </a:lnTo>
                <a:lnTo>
                  <a:pt x="0" y="2655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080512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605063"/>
            <a:ext cx="12089653" cy="230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156" lvl="1" indent="-327078" algn="l">
              <a:lnSpc>
                <a:spcPts val="4241"/>
              </a:lnSpc>
              <a:buAutoNum type="arabicPeriod"/>
            </a:pPr>
            <a:r>
              <a:rPr lang="en-US" sz="3029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Exploratory Data Analysis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the distribution of final grades to understand overall student performance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relationships between features (e.g., G1, G2) and final grade to identify key influencing factors</a:t>
            </a:r>
          </a:p>
          <a:p>
            <a:pPr algn="l">
              <a:lnSpc>
                <a:spcPts val="4241"/>
              </a:lnSpc>
            </a:pPr>
            <a:endParaRPr lang="en-US" sz="2392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5029637"/>
            <a:ext cx="14240232" cy="1769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177" lvl="1" indent="-327088" algn="l">
              <a:lnSpc>
                <a:spcPts val="4241"/>
              </a:lnSpc>
              <a:buAutoNum type="arabicPeriod"/>
            </a:pPr>
            <a:r>
              <a:rPr lang="en-US" sz="3029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Feature Selection &amp; Encoding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important features like study time, failures, absences, G1, and G2 based on their impact on performance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categorical data (e.g., gender) into numerical form using encoding techniques</a:t>
            </a:r>
          </a:p>
          <a:p>
            <a:pPr algn="l">
              <a:lnSpc>
                <a:spcPts val="3347"/>
              </a:lnSpc>
            </a:pPr>
            <a:endParaRPr lang="en-US" sz="239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751491"/>
            <a:ext cx="12089653" cy="187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177" lvl="1" indent="-327088" algn="l">
              <a:lnSpc>
                <a:spcPts val="4241"/>
              </a:lnSpc>
              <a:buAutoNum type="arabicPeriod"/>
            </a:pPr>
            <a:r>
              <a:rPr lang="en-US" sz="3029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Train-Test-Split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the dataset into training (80%) and testing (20%)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training data to build the model and testing data to evaluate its performance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endParaRPr lang="en-US" sz="239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186346"/>
            <a:ext cx="11156715" cy="3133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4177" lvl="1" indent="-327088" algn="l">
              <a:lnSpc>
                <a:spcPts val="4241"/>
              </a:lnSpc>
              <a:buAutoNum type="arabicPeriod"/>
            </a:pPr>
            <a:r>
              <a:rPr lang="en-US" sz="3029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Model Building using Random Forest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input features (X) and target variable (G3)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and testing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Random Forest Regressor with parameters (n_estimators, random_state)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the model using training data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the trained model to make predictions on test data</a:t>
            </a:r>
          </a:p>
          <a:p>
            <a:pPr algn="l">
              <a:lnSpc>
                <a:spcPts val="4200"/>
              </a:lnSpc>
            </a:pPr>
            <a:endParaRPr lang="en-US" sz="239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760594" y="5587788"/>
            <a:ext cx="7575450" cy="977107"/>
          </a:xfrm>
          <a:custGeom>
            <a:avLst/>
            <a:gdLst/>
            <a:ahLst/>
            <a:cxnLst/>
            <a:rect l="l" t="t" r="r" b="b"/>
            <a:pathLst>
              <a:path w="7575450" h="977107">
                <a:moveTo>
                  <a:pt x="0" y="0"/>
                </a:moveTo>
                <a:lnTo>
                  <a:pt x="7575450" y="0"/>
                </a:lnTo>
                <a:lnTo>
                  <a:pt x="7575450" y="977106"/>
                </a:lnTo>
                <a:lnTo>
                  <a:pt x="0" y="977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7466113" y="2478499"/>
            <a:ext cx="7972692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179080" y="4102686"/>
            <a:ext cx="5555637" cy="4388567"/>
          </a:xfrm>
          <a:custGeom>
            <a:avLst/>
            <a:gdLst/>
            <a:ahLst/>
            <a:cxnLst/>
            <a:rect l="l" t="t" r="r" b="b"/>
            <a:pathLst>
              <a:path w="5555637" h="4388567">
                <a:moveTo>
                  <a:pt x="0" y="0"/>
                </a:moveTo>
                <a:lnTo>
                  <a:pt x="5555636" y="0"/>
                </a:lnTo>
                <a:lnTo>
                  <a:pt x="5555636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12576" y="4102686"/>
            <a:ext cx="5237345" cy="4388567"/>
          </a:xfrm>
          <a:custGeom>
            <a:avLst/>
            <a:gdLst/>
            <a:ahLst/>
            <a:cxnLst/>
            <a:rect l="l" t="t" r="r" b="b"/>
            <a:pathLst>
              <a:path w="5237345" h="4388567">
                <a:moveTo>
                  <a:pt x="0" y="0"/>
                </a:moveTo>
                <a:lnTo>
                  <a:pt x="5237345" y="0"/>
                </a:lnTo>
                <a:lnTo>
                  <a:pt x="5237345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8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338"/>
              </a:lnSpc>
            </a:pPr>
            <a:r>
              <a:rPr lang="en-US" sz="80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Model &amp; Result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06621" y="2823160"/>
            <a:ext cx="567475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 Score: 0.85 | MAE: 1.03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System Demo</a:t>
            </a:r>
          </a:p>
        </p:txBody>
      </p:sp>
      <p:sp>
        <p:nvSpPr>
          <p:cNvPr id="6" name="AutoShape 6"/>
          <p:cNvSpPr/>
          <p:nvPr/>
        </p:nvSpPr>
        <p:spPr>
          <a:xfrm>
            <a:off x="2348473" y="2460902"/>
            <a:ext cx="7975565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348473" y="2901342"/>
            <a:ext cx="5729209" cy="6356958"/>
          </a:xfrm>
          <a:custGeom>
            <a:avLst/>
            <a:gdLst/>
            <a:ahLst/>
            <a:cxnLst/>
            <a:rect l="l" t="t" r="r" b="b"/>
            <a:pathLst>
              <a:path w="5729209" h="6356958">
                <a:moveTo>
                  <a:pt x="0" y="0"/>
                </a:moveTo>
                <a:lnTo>
                  <a:pt x="5729208" y="0"/>
                </a:lnTo>
                <a:lnTo>
                  <a:pt x="572920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2901342"/>
            <a:ext cx="6420570" cy="6223673"/>
          </a:xfrm>
          <a:custGeom>
            <a:avLst/>
            <a:gdLst/>
            <a:ahLst/>
            <a:cxnLst/>
            <a:rect l="l" t="t" r="r" b="b"/>
            <a:pathLst>
              <a:path w="6420570" h="6223673">
                <a:moveTo>
                  <a:pt x="0" y="0"/>
                </a:moveTo>
                <a:lnTo>
                  <a:pt x="6420570" y="0"/>
                </a:lnTo>
                <a:lnTo>
                  <a:pt x="6420570" y="6223673"/>
                </a:lnTo>
                <a:lnTo>
                  <a:pt x="0" y="62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9645305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430519" y="2913298"/>
            <a:ext cx="13948455" cy="4818557"/>
          </a:xfrm>
          <a:custGeom>
            <a:avLst/>
            <a:gdLst/>
            <a:ahLst/>
            <a:cxnLst/>
            <a:rect l="l" t="t" r="r" b="b"/>
            <a:pathLst>
              <a:path w="13948455" h="4818557">
                <a:moveTo>
                  <a:pt x="0" y="0"/>
                </a:moveTo>
                <a:lnTo>
                  <a:pt x="13948455" y="0"/>
                </a:lnTo>
                <a:lnTo>
                  <a:pt x="13948455" y="4818557"/>
                </a:lnTo>
                <a:lnTo>
                  <a:pt x="0" y="4818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91198" y="3326209"/>
            <a:ext cx="11217629" cy="39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Regression effectively predicts the final student grade (G3)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captures complex relationships between input features and output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features like G1 and G2 strongly influence the prediction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shows good performance based on MAE and R² score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for real-world grade prediction and academic analysis</a:t>
            </a:r>
          </a:p>
          <a:p>
            <a:pPr algn="ctr">
              <a:lnSpc>
                <a:spcPts val="3008"/>
              </a:lnSpc>
            </a:pPr>
            <a:endParaRPr lang="en-US" sz="2846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654696" y="8064211"/>
            <a:ext cx="7315200" cy="1755648"/>
          </a:xfrm>
          <a:custGeom>
            <a:avLst/>
            <a:gdLst/>
            <a:ahLst/>
            <a:cxnLst/>
            <a:rect l="l" t="t" r="r" b="b"/>
            <a:pathLst>
              <a:path w="7315200" h="1755648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74502" y="1060509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60788" y="8192735"/>
            <a:ext cx="6703014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Reference link: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6" tooltip="https://student-performance-predictor18.streamlit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6" tooltip="https://student-performance-predictor18.streamlit.ap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GitHub: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7" tooltip="https://github.com/priyanshugupta18-web/student-performance-predi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7" tooltip="https://github.com/priyanshugupta18-web/student-performance-predi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03663" y="3101214"/>
            <a:ext cx="7436856" cy="213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1"/>
              </a:lnSpc>
            </a:pPr>
            <a:r>
              <a:rPr lang="en-US" sz="12501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3663" y="4456656"/>
            <a:ext cx="10940124" cy="315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6"/>
              </a:lnSpc>
            </a:pPr>
            <a:r>
              <a:rPr lang="en-US" sz="1839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4652854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7903675" y="0"/>
                </a:moveTo>
                <a:lnTo>
                  <a:pt x="0" y="0"/>
                </a:lnTo>
                <a:lnTo>
                  <a:pt x="0" y="11562784"/>
                </a:lnTo>
                <a:lnTo>
                  <a:pt x="7903675" y="11562784"/>
                </a:lnTo>
                <a:lnTo>
                  <a:pt x="79036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378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Muli</vt:lpstr>
      <vt:lpstr>Shrikhand</vt:lpstr>
      <vt:lpstr>Times New Roman Bold Italics</vt:lpstr>
      <vt:lpstr>Times New Roman</vt:lpstr>
      <vt:lpstr>Muli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Geometric Abstract Project Presentation</dc:title>
  <dc:creator>Priyanshu Gupta</dc:creator>
  <cp:lastModifiedBy>Priyanshu Gupta</cp:lastModifiedBy>
  <cp:revision>3</cp:revision>
  <dcterms:created xsi:type="dcterms:W3CDTF">2006-08-16T00:00:00Z</dcterms:created>
  <dcterms:modified xsi:type="dcterms:W3CDTF">2026-05-03T15:31:46Z</dcterms:modified>
  <dc:identifier>DAHInTshtis</dc:identifier>
</cp:coreProperties>
</file>